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85" r:id="rId4"/>
    <p:sldId id="277" r:id="rId5"/>
    <p:sldId id="260" r:id="rId6"/>
    <p:sldId id="262" r:id="rId7"/>
    <p:sldId id="280" r:id="rId8"/>
    <p:sldId id="263" r:id="rId9"/>
    <p:sldId id="281" r:id="rId10"/>
    <p:sldId id="282" r:id="rId11"/>
    <p:sldId id="279" r:id="rId12"/>
    <p:sldId id="283" r:id="rId13"/>
    <p:sldId id="28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446AD-4B05-9ED9-C1D8-9CD193680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63784-8864-8632-FE56-A85571E77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75B7-C23F-64B2-D4D7-8DE529373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15C9-1CD4-81A2-D50D-69A1C23F7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59BA4-D47A-C1A3-7DD9-1E588398E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41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278EF-90A9-9109-A357-5C043221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FAA21-A107-7480-7932-4AC761F67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9BC03-B736-8A4E-BC77-07238F4C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757D0-54BD-1117-AC8F-A25108C3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1D683-12AB-4C4F-724E-0BDA7D3D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44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2A3D-F7C6-C405-DAE0-640A65440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CA093C-5EE4-7C6B-4401-E66191032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12CE1-37D5-9A7F-375F-FAAFE787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5E61-8373-8E1E-E66F-AD16AB8B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D47D3-A882-76A7-9002-0500CBBD6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93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18B3-CB79-A21E-5425-8F433417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FE5F-FBD0-D824-04C2-E6A102E40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A50C0-6692-968D-6704-30B626DF5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2BC8F-A42C-7AE3-34E8-D01F7207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0CE63-C91D-849A-1CDA-D44371945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EE7EC-ECA3-9F33-7AC8-399BF10CB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66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B1531-F9BA-B0AD-3B33-A96C85BA5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FCD97-4B20-01C2-A8A8-B6DBE4C227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E66230-C7A6-4A26-D75B-35BFD58870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4476D-258F-6978-4578-F48F1EC0B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0F6BE4-3907-D211-F7A7-2A6A689007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C76FD6-257D-CFFA-DB1C-A769D264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2E6F0B-C412-F713-7457-2F5D4E7B2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1C5D87-DB57-6F46-B3DC-255B6BE7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1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5A6A-4335-0AB0-5A3E-61D90DE7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4D760-BAD2-7E22-6DE6-F49869F0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B4F38-44A3-0176-B076-2E528FFA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76413-C062-ADA2-51F6-597231A4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2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AD8432-62A3-8DE9-4184-1DE4F1991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AA718D-A472-6E37-02BC-3AC7C554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42C98-9B9E-3CEF-2A1B-DDFC29312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37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A2037-525A-A780-AE3F-AF77BE538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D1022-BFBD-8FEE-4984-4A04A003A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65F01-B3FF-BD8A-88D0-79E183B67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1C300-1761-5263-2146-06ACC147B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74754-7285-6114-4459-FE84F07DD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E433B-CCBA-3AB4-58FE-2E5C49C3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56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D146-A069-87BA-5082-A87B38B0F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F539D-D5A4-8886-CB8B-F5C2871BF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0062A4-1143-0582-02E0-8E8B09FE6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F9F18-C3E6-2233-6CC7-4F03CBC53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B0872-1EE2-22F0-FF0F-9C58D9BD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ECAE9-3C98-6122-968A-AD720E44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0AD8-7DB2-4E5A-4175-DA11E170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977BB-3A6B-19A9-38B1-BD05C07A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D3662-78C5-3F0F-4031-D5D024221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B0B65-F646-AB38-A356-32E5B279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BD6C1-30E0-5EBB-72F3-CCF591A7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16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B920A-36B0-7471-7470-330CA1B22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9B962-FFDD-CAF9-0475-8FD1CD8C6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80070-CBD3-038F-F951-3A0A74A5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A42D-5BAB-BBC4-F299-716117EE7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668BC-527D-EB07-C4CF-46B02C1CF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93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C750B4-429E-DFE0-BE2F-715E54B1E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9D7CC-1626-C56E-677C-68CA8E90F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4C123-3489-3312-51F3-3DEF10508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888A4D-87F9-472E-9768-C9372E95C53E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D2BA6-16B2-F046-34B5-7DE4F9DF8B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A864B-9CDD-0793-EA34-A1E1C45164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C13C9E-4E47-4E59-A917-61A710FF86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4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C217C-445A-FFF3-3E67-FEC2DF3FD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568D5-77F8-CDF3-45F7-E9C89D1023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CONVERSATIONAL CONSTRAINED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4AC36-259E-595A-4B7E-7F1FFA976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655762"/>
          </a:xfrm>
        </p:spPr>
        <p:txBody>
          <a:bodyPr/>
          <a:lstStyle/>
          <a:p>
            <a:r>
              <a:rPr lang="en-US" sz="2800" b="1" i="1"/>
              <a:t>- C3 Framework -</a:t>
            </a:r>
          </a:p>
          <a:p>
            <a:r>
              <a:rPr lang="en-US" sz="3200"/>
              <a:t>Project of Anh Quan Nguyen</a:t>
            </a:r>
          </a:p>
        </p:txBody>
      </p:sp>
    </p:spTree>
    <p:extLst>
      <p:ext uri="{BB962C8B-B14F-4D97-AF65-F5344CB8AC3E}">
        <p14:creationId xmlns:p14="http://schemas.microsoft.com/office/powerpoint/2010/main" val="210848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3B45B-E63D-084E-84E0-226E19A1D083}"/>
              </a:ext>
            </a:extLst>
          </p:cNvPr>
          <p:cNvSpPr txBox="1">
            <a:spLocks/>
          </p:cNvSpPr>
          <p:nvPr/>
        </p:nvSpPr>
        <p:spPr>
          <a:xfrm>
            <a:off x="4797501" y="329184"/>
            <a:ext cx="6755626" cy="1783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1"/>
              <a:t>Problem Statement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D7BD072-6F87-4131-DE14-DD97C5D43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283" y="0"/>
            <a:ext cx="4007729" cy="390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D54C6D-BDB5-26C8-0B67-DDBF58CC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0040" y="4185032"/>
            <a:ext cx="3995928" cy="202793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A97507B-3582-837B-1B2A-605E9860D0D0}"/>
              </a:ext>
            </a:extLst>
          </p:cNvPr>
          <p:cNvSpPr txBox="1">
            <a:spLocks/>
          </p:cNvSpPr>
          <p:nvPr/>
        </p:nvSpPr>
        <p:spPr>
          <a:xfrm>
            <a:off x="4797493" y="2706624"/>
            <a:ext cx="6999271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b="1"/>
              <a:t>Clustering is subjective: </a:t>
            </a:r>
            <a:r>
              <a:rPr lang="en-US" sz="2400"/>
              <a:t>The "correct" result </a:t>
            </a:r>
            <a:br>
              <a:rPr lang="en-US" sz="2400"/>
            </a:br>
            <a:r>
              <a:rPr lang="en-US" sz="2400"/>
              <a:t>depends entirely on what the user is looking for.</a:t>
            </a:r>
          </a:p>
          <a:p>
            <a:pPr>
              <a:lnSpc>
                <a:spcPct val="100000"/>
              </a:lnSpc>
            </a:pPr>
            <a:r>
              <a:rPr lang="en-US" sz="2400" b="1"/>
              <a:t>K-Means is inflexible: </a:t>
            </a:r>
            <a:r>
              <a:rPr lang="en-US" sz="2400"/>
              <a:t>Traditional algorithms can </a:t>
            </a:r>
            <a:br>
              <a:rPr lang="en-US" sz="2400"/>
            </a:br>
            <a:r>
              <a:rPr lang="en-US" sz="2400"/>
              <a:t>only group text by surface-level topics.</a:t>
            </a:r>
          </a:p>
          <a:p>
            <a:pPr>
              <a:lnSpc>
                <a:spcPct val="100000"/>
              </a:lnSpc>
            </a:pPr>
            <a:r>
              <a:rPr lang="en-US" sz="2400" b="1"/>
              <a:t>LLMs are unscalable: </a:t>
            </a:r>
            <a:r>
              <a:rPr lang="en-US" sz="2400"/>
              <a:t>Clustering full datasets directly with LLMs is too expensive and slow.</a:t>
            </a:r>
          </a:p>
        </p:txBody>
      </p:sp>
    </p:spTree>
    <p:extLst>
      <p:ext uri="{BB962C8B-B14F-4D97-AF65-F5344CB8AC3E}">
        <p14:creationId xmlns:p14="http://schemas.microsoft.com/office/powerpoint/2010/main" val="836776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4279-C673-B4EF-29B3-A7A44F58C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AFA897-BF2A-64BC-7857-6D7C9B2912A0}"/>
              </a:ext>
            </a:extLst>
          </p:cNvPr>
          <p:cNvSpPr txBox="1">
            <a:spLocks/>
          </p:cNvSpPr>
          <p:nvPr/>
        </p:nvSpPr>
        <p:spPr>
          <a:xfrm>
            <a:off x="1068963" y="-39647"/>
            <a:ext cx="6986015" cy="1776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/>
              <a:t>Related Work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31B47C7-A7A2-5D2F-6A92-AE20B2C21953}"/>
              </a:ext>
            </a:extLst>
          </p:cNvPr>
          <p:cNvSpPr txBox="1">
            <a:spLocks/>
          </p:cNvSpPr>
          <p:nvPr/>
        </p:nvSpPr>
        <p:spPr>
          <a:xfrm>
            <a:off x="1465768" y="1321846"/>
            <a:ext cx="9969147" cy="46875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C394561-1EA8-9F2E-CC97-39D47446D136}"/>
              </a:ext>
            </a:extLst>
          </p:cNvPr>
          <p:cNvSpPr txBox="1">
            <a:spLocks/>
          </p:cNvSpPr>
          <p:nvPr/>
        </p:nvSpPr>
        <p:spPr>
          <a:xfrm>
            <a:off x="1719737" y="1985136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2400">
                <a:latin typeface="Aptos" panose="020B0004020202020204" pitchFamily="34" charset="0"/>
              </a:rPr>
              <a:t>Text Embedding (all-MiniLM-L6-v2)</a:t>
            </a:r>
            <a:endParaRPr lang="en-US" sz="2400">
              <a:latin typeface="Aptos" panose="020B0004020202020204" pitchFamily="34" charset="0"/>
            </a:endParaRPr>
          </a:p>
          <a:p>
            <a:r>
              <a:rPr lang="vi-VN" sz="2400">
                <a:latin typeface="Aptos" panose="020B0004020202020204" pitchFamily="34" charset="0"/>
              </a:rPr>
              <a:t>Anchor Sampling (FPS</a:t>
            </a:r>
            <a:r>
              <a:rPr lang="en-US" sz="2400">
                <a:latin typeface="Aptos" panose="020B0004020202020204" pitchFamily="34" charset="0"/>
              </a:rPr>
              <a:t>)</a:t>
            </a:r>
          </a:p>
          <a:p>
            <a:r>
              <a:rPr lang="en-US" sz="2400">
                <a:latin typeface="Aptos" panose="020B0004020202020204" pitchFamily="34" charset="0"/>
              </a:rPr>
              <a:t>LLM</a:t>
            </a:r>
            <a:r>
              <a:rPr lang="vi-VN" sz="2400">
                <a:latin typeface="Aptos" panose="020B0004020202020204" pitchFamily="34" charset="0"/>
              </a:rPr>
              <a:t> (GPT-4o</a:t>
            </a:r>
            <a:r>
              <a:rPr lang="en-US" sz="2400">
                <a:latin typeface="Aptos" panose="020B0004020202020204" pitchFamily="34" charset="0"/>
              </a:rPr>
              <a:t>)</a:t>
            </a:r>
          </a:p>
          <a:p>
            <a:r>
              <a:rPr lang="vi-VN" sz="2400">
                <a:latin typeface="Aptos" panose="020B0004020202020204" pitchFamily="34" charset="0"/>
              </a:rPr>
              <a:t>Metric Learning (ITML</a:t>
            </a:r>
            <a:r>
              <a:rPr lang="en-US" sz="2400">
                <a:latin typeface="Aptos" panose="020B0004020202020204" pitchFamily="34" charset="0"/>
              </a:rPr>
              <a:t>)</a:t>
            </a:r>
          </a:p>
          <a:p>
            <a:r>
              <a:rPr lang="en-US" sz="2400">
                <a:latin typeface="Aptos" panose="020B0004020202020204" pitchFamily="34" charset="0"/>
              </a:rPr>
              <a:t>Constrained Clustering Algo</a:t>
            </a:r>
            <a:r>
              <a:rPr lang="vi-VN" sz="2400">
                <a:latin typeface="Aptos" panose="020B0004020202020204" pitchFamily="34" charset="0"/>
              </a:rPr>
              <a:t> (PCK-Means)</a:t>
            </a:r>
            <a:endParaRPr lang="en-US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9163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59C862-81A2-FF76-C444-23EBCFAB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4" name="Rectangle 107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A867E1-21B4-6634-0460-BC36E9D380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-206"/>
          <a:stretch>
            <a:fillRect/>
          </a:stretch>
        </p:blipFill>
        <p:spPr>
          <a:xfrm>
            <a:off x="1014983" y="778529"/>
            <a:ext cx="9706608" cy="530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921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23BDF-3EA6-7922-13DF-AD47778B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84B295-30D8-AD65-35F5-330C27E54B25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Research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A8CB8-DF6A-0938-84B5-D15FB361C0B4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RQ1 (Multi-Aspect Capability): </a:t>
            </a:r>
            <a:r>
              <a:rPr lang="en-US" sz="2200"/>
              <a:t>How effectively can C3 cluster the same dataset across different aspects compared to K-Means and LLM methods?</a:t>
            </a:r>
          </a:p>
          <a:p>
            <a:r>
              <a:rPr lang="en-US" sz="2200" b="1"/>
              <a:t>RQ2 (LLM Initial Purity): </a:t>
            </a:r>
            <a:r>
              <a:rPr lang="en-US" sz="2200"/>
              <a:t>How accurate are the initial cluster assignments generated by the LLM based on cluster purity?</a:t>
            </a:r>
          </a:p>
          <a:p>
            <a:r>
              <a:rPr lang="en-US" sz="2200" b="1"/>
              <a:t>RQ3 (Sample Efficiency): </a:t>
            </a:r>
            <a:r>
              <a:rPr lang="en-US" sz="2200"/>
              <a:t>What is the optimal sample size to balance clustering stability and API token costs?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172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9314B-487B-48EE-61B8-0F16D2AD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29" name="Rectangle 4128">
            <a:extLst>
              <a:ext uri="{FF2B5EF4-FFF2-40B4-BE49-F238E27FC236}">
                <a16:creationId xmlns:a16="http://schemas.microsoft.com/office/drawing/2014/main" id="{53B475F8-50AE-46A0-9943-B2B63183D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CCF8A7-A81A-99A0-E52B-6B18B39AD7D3}"/>
              </a:ext>
            </a:extLst>
          </p:cNvPr>
          <p:cNvSpPr txBox="1">
            <a:spLocks/>
          </p:cNvSpPr>
          <p:nvPr/>
        </p:nvSpPr>
        <p:spPr>
          <a:xfrm>
            <a:off x="612648" y="365125"/>
            <a:ext cx="6986015" cy="1776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b="1"/>
              <a:t>Evaluation Metrics</a:t>
            </a:r>
          </a:p>
        </p:txBody>
      </p:sp>
      <p:pic>
        <p:nvPicPr>
          <p:cNvPr id="3" name="Picture 4" descr="Clustering Evaluation Metrics for Machine Learning in Data Science">
            <a:extLst>
              <a:ext uri="{FF2B5EF4-FFF2-40B4-BE49-F238E27FC236}">
                <a16:creationId xmlns:a16="http://schemas.microsoft.com/office/drawing/2014/main" id="{27700741-1F34-0796-BF79-4DEE902C6F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45" r="12654"/>
          <a:stretch>
            <a:fillRect/>
          </a:stretch>
        </p:blipFill>
        <p:spPr bwMode="auto">
          <a:xfrm>
            <a:off x="8379409" y="780238"/>
            <a:ext cx="3532036" cy="853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1" name="sketch line">
            <a:extLst>
              <a:ext uri="{FF2B5EF4-FFF2-40B4-BE49-F238E27FC236}">
                <a16:creationId xmlns:a16="http://schemas.microsoft.com/office/drawing/2014/main" id="{75F6FDB4-2351-48C2-A863-2364A0234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31569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B587E-BC18-8503-9801-8E86F5ECA2B7}"/>
              </a:ext>
            </a:extLst>
          </p:cNvPr>
          <p:cNvSpPr txBox="1">
            <a:spLocks/>
          </p:cNvSpPr>
          <p:nvPr/>
        </p:nvSpPr>
        <p:spPr>
          <a:xfrm>
            <a:off x="612648" y="2504819"/>
            <a:ext cx="6986016" cy="36721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/>
              <a:t>NMI (Normalized Mutual Information): </a:t>
            </a:r>
            <a:r>
              <a:rPr lang="en-US" sz="2000"/>
              <a:t>Measures the amount of shared information between predicted clusters and true labels (scales from 0 to 1).</a:t>
            </a:r>
          </a:p>
          <a:p>
            <a:r>
              <a:rPr lang="en-US" sz="2000" b="1"/>
              <a:t>ARI (Adjusted Rand Index): </a:t>
            </a:r>
            <a:r>
              <a:rPr lang="en-US" sz="2000"/>
              <a:t>Evaluates clustering quality by comparing data point pairs, fully adjusted for random guessing.</a:t>
            </a:r>
          </a:p>
          <a:p>
            <a:r>
              <a:rPr lang="en-US" sz="2000" b="1"/>
              <a:t>ACC (Clustering Accuracy): </a:t>
            </a:r>
            <a:r>
              <a:rPr lang="en-US" sz="2000"/>
              <a:t>Uses the Hungarian algorithm to map cluster IDs to true labels and computes the final classification rate.</a:t>
            </a:r>
          </a:p>
          <a:p>
            <a:r>
              <a:rPr lang="en-US" sz="2000" b="1"/>
              <a:t>LLM-as-a-Judge: </a:t>
            </a:r>
            <a:r>
              <a:rPr lang="en-US" sz="2000"/>
              <a:t>Employs a powerful language model to qualitatively grade cluster coherence and alignment with user intent.</a:t>
            </a:r>
          </a:p>
        </p:txBody>
      </p:sp>
      <p:pic>
        <p:nvPicPr>
          <p:cNvPr id="4098" name="Picture 2" descr="Choosing Between LLM Agent Frameworks | Towards Data Science">
            <a:extLst>
              <a:ext uri="{FF2B5EF4-FFF2-40B4-BE49-F238E27FC236}">
                <a16:creationId xmlns:a16="http://schemas.microsoft.com/office/drawing/2014/main" id="{D1BE3CF1-D894-6026-7E14-0695733EC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730395" y="2310086"/>
            <a:ext cx="2831790" cy="1890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1BD38C-B70D-5599-0532-4E80B7297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136" y="4950260"/>
            <a:ext cx="3530309" cy="70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990F530-4C86-014B-06A8-2934EDC0CE6A}"/>
              </a:ext>
            </a:extLst>
          </p:cNvPr>
          <p:cNvSpPr txBox="1">
            <a:spLocks/>
          </p:cNvSpPr>
          <p:nvPr/>
        </p:nvSpPr>
        <p:spPr>
          <a:xfrm>
            <a:off x="895497" y="-749605"/>
            <a:ext cx="6986015" cy="1776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/>
              <a:t>Datasets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19C883-3EFF-9356-35D2-16F2D298C7C1}"/>
              </a:ext>
            </a:extLst>
          </p:cNvPr>
          <p:cNvSpPr txBox="1">
            <a:spLocks/>
          </p:cNvSpPr>
          <p:nvPr/>
        </p:nvSpPr>
        <p:spPr>
          <a:xfrm>
            <a:off x="1465768" y="1321846"/>
            <a:ext cx="9969147" cy="46875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lang="en-US" sz="2000" b="1"/>
              <a:t>Arxix2S2 </a:t>
            </a:r>
          </a:p>
          <a:p>
            <a:pPr>
              <a:lnSpc>
                <a:spcPct val="100000"/>
              </a:lnSpc>
              <a:buNone/>
            </a:pP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"task"</a:t>
            </a: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"arxiv_fine"</a:t>
            </a: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"Caching Placement in Stochastic Wireless Caching Helper Networks:</a:t>
            </a:r>
            <a:r>
              <a:rPr lang="en-US" sz="160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 Channel Selection Diversity via Caching"</a:t>
            </a: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"cs.IT"</a:t>
            </a:r>
            <a:r>
              <a:rPr lang="en-US" sz="160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"task"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"arxiv_fine"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"Efficient Bayesian hierarchical functional data analysis with basis</a:t>
            </a:r>
            <a:r>
              <a:rPr lang="en-US" sz="1600" b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 function approximations using Gaussian-Wishart processes"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"stat.ME"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/>
              <a:t>Banking77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"task"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"banking77"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"What steps do I need to take to exchange currencies?"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"exchange via app"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"task"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"banking77"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"How can I alteration my PIN?"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"change pin"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b="1"/>
          </a:p>
          <a:p>
            <a:pPr marL="0" indent="0">
              <a:lnSpc>
                <a:spcPct val="100000"/>
              </a:lnSpc>
              <a:buNone/>
            </a:pPr>
            <a:r>
              <a:rPr lang="en-US" sz="2000" b="1"/>
              <a:t>Reddit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"task"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"reddit"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"Best M4 for under $250?"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"airsoft.txt"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buNone/>
            </a:pP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"task"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"reddit"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"input"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new social media campaign is drawing attention to the number of people in Illinois who say their lives would improve through the use of medical marijuana."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"label"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"chicago.txt"</a:t>
            </a:r>
            <a:r>
              <a:rPr lang="en-US" sz="16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31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8E847-76BC-D16E-5ED8-C81DE1708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72A241-85DB-A2ED-C11F-FBC41D5A0EC6}"/>
              </a:ext>
            </a:extLst>
          </p:cNvPr>
          <p:cNvSpPr txBox="1"/>
          <p:nvPr/>
        </p:nvSpPr>
        <p:spPr>
          <a:xfrm>
            <a:off x="736580" y="562640"/>
            <a:ext cx="10757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RQ1 (Multi-Aspect Capability): </a:t>
            </a:r>
            <a:r>
              <a:rPr lang="en-US" sz="2000"/>
              <a:t>How effectively can C3 cluster the same dataset across different aspects compared to K-Means and LLM methods?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E353312-9B30-020D-3A12-A7894D93D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65" y="1635370"/>
            <a:ext cx="11153669" cy="4182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34DE-1FD9-2BCE-FF15-28A11E262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1FF2E0-5EA0-9C03-C3B1-193AB9CF49BB}"/>
              </a:ext>
            </a:extLst>
          </p:cNvPr>
          <p:cNvSpPr txBox="1"/>
          <p:nvPr/>
        </p:nvSpPr>
        <p:spPr>
          <a:xfrm>
            <a:off x="736580" y="562640"/>
            <a:ext cx="10757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RQ2 (LLM Initial Purity): </a:t>
            </a:r>
            <a:r>
              <a:rPr lang="en-US" sz="2000"/>
              <a:t>How accurate are the initial cluster assignments generated by the LLM based on cluster purity?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745E1-94B7-7AD0-D112-2B25478EC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108" y="1812759"/>
            <a:ext cx="7005636" cy="382436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068385-CD89-E7CD-2F1D-72250CEDFBF8}"/>
                  </a:ext>
                </a:extLst>
              </p:cNvPr>
              <p:cNvSpPr txBox="1"/>
              <p:nvPr/>
            </p:nvSpPr>
            <p:spPr>
              <a:xfrm>
                <a:off x="7038044" y="1566142"/>
                <a:ext cx="4524692" cy="103848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𝑃𝑢𝑟𝑖𝑡𝑦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𝑃𝑜𝑠𝑖𝑡𝑖𝑣𝑒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𝑇𝑜𝑡𝑎𝑙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8068385-CD89-E7CD-2F1D-72250CEDF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044" y="1566142"/>
                <a:ext cx="4524692" cy="10384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7026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61961-D2F7-A330-2F53-27CDE901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4D81F90-8137-8BA3-E9DE-3A71B0FE5BD7}"/>
              </a:ext>
            </a:extLst>
          </p:cNvPr>
          <p:cNvSpPr txBox="1"/>
          <p:nvPr/>
        </p:nvSpPr>
        <p:spPr>
          <a:xfrm>
            <a:off x="736580" y="562640"/>
            <a:ext cx="10757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RQ2 (LLM Initial Purity): </a:t>
            </a:r>
            <a:r>
              <a:rPr lang="en-US" sz="2000"/>
              <a:t>How accurate are the initial cluster assignments generated by the LLM based on cluster purity?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AD3D08-0A06-2088-55F8-1BADB6516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35" y="1582013"/>
            <a:ext cx="10757330" cy="461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3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F2CE8-7BB2-507F-45ED-F66329B7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282E625-09A6-0FC1-FD76-3BE1B4E2A910}"/>
              </a:ext>
            </a:extLst>
          </p:cNvPr>
          <p:cNvSpPr txBox="1"/>
          <p:nvPr/>
        </p:nvSpPr>
        <p:spPr>
          <a:xfrm>
            <a:off x="736580" y="562640"/>
            <a:ext cx="1075733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/>
              <a:t>RQ3 (Sample Efficiency): </a:t>
            </a:r>
            <a:r>
              <a:rPr lang="en-US" sz="2000"/>
              <a:t>What is the optimal sample size to balance clustering stability and API token costs?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F9FC1-FEC7-9D45-BFFC-5A2EC994C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92" y="1755531"/>
            <a:ext cx="11183815" cy="384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24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6ED59-A1D4-64F1-5BE2-E7EC815B5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908D8B7-F911-3290-C069-70078250355A}"/>
              </a:ext>
            </a:extLst>
          </p:cNvPr>
          <p:cNvSpPr txBox="1">
            <a:spLocks/>
          </p:cNvSpPr>
          <p:nvPr/>
        </p:nvSpPr>
        <p:spPr>
          <a:xfrm>
            <a:off x="905330" y="-113161"/>
            <a:ext cx="6986015" cy="1776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/>
              <a:t>Limitations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9F31BF2-C039-5F68-A12A-650EA72E6A41}"/>
              </a:ext>
            </a:extLst>
          </p:cNvPr>
          <p:cNvSpPr txBox="1">
            <a:spLocks/>
          </p:cNvSpPr>
          <p:nvPr/>
        </p:nvSpPr>
        <p:spPr>
          <a:xfrm>
            <a:off x="1465768" y="1321846"/>
            <a:ext cx="9969147" cy="46875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4BE6963-61DF-DF39-7B91-F8C09580033B}"/>
              </a:ext>
            </a:extLst>
          </p:cNvPr>
          <p:cNvSpPr txBox="1">
            <a:spLocks/>
          </p:cNvSpPr>
          <p:nvPr/>
        </p:nvSpPr>
        <p:spPr>
          <a:xfrm>
            <a:off x="1271170" y="2004800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Granularity dependency:</a:t>
            </a:r>
            <a:r>
              <a:rPr lang="en-US" sz="2200"/>
              <a:t> The system cannot auto-detect the optimal number of clusters and relies on user-provided parameters.</a:t>
            </a:r>
          </a:p>
          <a:p>
            <a:r>
              <a:rPr lang="en-US" sz="2200" b="1"/>
              <a:t>Metric learning latency: </a:t>
            </a:r>
            <a:r>
              <a:rPr lang="en-US" sz="2200"/>
              <a:t>ITML runs on the CPU, causing significant time delays when optimizing high-dimensional embedding spaces.</a:t>
            </a:r>
          </a:p>
          <a:p>
            <a:r>
              <a:rPr lang="en-US" sz="2200" b="1"/>
              <a:t>Constraint complexity: </a:t>
            </a:r>
            <a:r>
              <a:rPr lang="en-US" sz="2200"/>
              <a:t>Generating too many pairwise constraints increases the computational load for the partition solver.</a:t>
            </a:r>
          </a:p>
          <a:p>
            <a:r>
              <a:rPr lang="en-US" sz="2200" b="1"/>
              <a:t>Embedding sensitivity: </a:t>
            </a:r>
            <a:r>
              <a:rPr lang="en-US" sz="2200"/>
              <a:t>System performance is heavily influenced by the initial quality of the chosen embedding model.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560434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BC6A2-6CFA-7760-A74F-02A75EDC4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2582C4-7102-1A99-EB71-8FFD77AA36DD}"/>
              </a:ext>
            </a:extLst>
          </p:cNvPr>
          <p:cNvSpPr txBox="1">
            <a:spLocks/>
          </p:cNvSpPr>
          <p:nvPr/>
        </p:nvSpPr>
        <p:spPr>
          <a:xfrm>
            <a:off x="885665" y="-113161"/>
            <a:ext cx="8720451" cy="17764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/>
              <a:t>Unachieved Research Question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4FD055A-B874-8AFB-A6F9-7EEAC4C2AA9C}"/>
              </a:ext>
            </a:extLst>
          </p:cNvPr>
          <p:cNvSpPr txBox="1">
            <a:spLocks/>
          </p:cNvSpPr>
          <p:nvPr/>
        </p:nvSpPr>
        <p:spPr>
          <a:xfrm>
            <a:off x="1465768" y="1321846"/>
            <a:ext cx="9969147" cy="46875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425"/>
              </a:lnSpc>
              <a:buNone/>
            </a:pPr>
            <a:endParaRPr lang="en-US" sz="16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C4C9C2A-0970-A2C7-542E-277C5BA81A5B}"/>
              </a:ext>
            </a:extLst>
          </p:cNvPr>
          <p:cNvSpPr txBox="1">
            <a:spLocks/>
          </p:cNvSpPr>
          <p:nvPr/>
        </p:nvSpPr>
        <p:spPr>
          <a:xfrm>
            <a:off x="1271170" y="2004800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RQ4 (Conversational Efficiency):</a:t>
            </a:r>
            <a:r>
              <a:rPr lang="en-US" sz="2200"/>
              <a:t> How many conversational turns does the LLM need to fully extract and lock in the user's clustering intent?</a:t>
            </a:r>
            <a:endParaRPr lang="en-US" sz="2200" b="1"/>
          </a:p>
          <a:p>
            <a:r>
              <a:rPr lang="en-US" sz="2200" b="1"/>
              <a:t>RQ5</a:t>
            </a:r>
            <a:r>
              <a:rPr lang="en-US" sz="2200"/>
              <a:t> </a:t>
            </a:r>
            <a:r>
              <a:rPr lang="en-US" sz="2200" b="1"/>
              <a:t>(Ablation Study):</a:t>
            </a:r>
            <a:r>
              <a:rPr lang="en-US" sz="2200"/>
              <a:t> What is the isolated performance impact of Metric Learning (ITML) versus pure Constrained Clustering (PCK-Means)?</a:t>
            </a:r>
          </a:p>
          <a:p>
            <a:r>
              <a:rPr lang="en-US" sz="2200" b="1"/>
              <a:t>RQ6 (Dynamic Intent Shifting): </a:t>
            </a:r>
            <a:r>
              <a:rPr lang="en-US" sz="2200"/>
              <a:t>How robustly can C3 adapt if the user completely changes their clustering aspect mid-conversation?</a:t>
            </a:r>
          </a:p>
          <a:p>
            <a:r>
              <a:rPr lang="en-US" sz="2200" b="1"/>
              <a:t>RQ7 (SOTA Benchmarking): </a:t>
            </a:r>
            <a:r>
              <a:rPr lang="en-US" sz="2200"/>
              <a:t>How does C3 perform on full-scale standard datasets compared to state-of-the-art clustering algorithms?</a:t>
            </a:r>
          </a:p>
        </p:txBody>
      </p:sp>
    </p:spTree>
    <p:extLst>
      <p:ext uri="{BB962C8B-B14F-4D97-AF65-F5344CB8AC3E}">
        <p14:creationId xmlns:p14="http://schemas.microsoft.com/office/powerpoint/2010/main" val="1201806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DFACD5-1B32-4210-81B4-A9CD965AD3D4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73f326dc-c70c-4913-a8b8-642a524596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2800</TotalTime>
  <Words>705</Words>
  <Application>Microsoft Office PowerPoint</Application>
  <PresentationFormat>Widescreen</PresentationFormat>
  <Paragraphs>47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Consolas</vt:lpstr>
      <vt:lpstr>Office Theme</vt:lpstr>
      <vt:lpstr>CONVERSATIONAL CONSTRAINED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Quan Nguyen</dc:creator>
  <cp:lastModifiedBy>Quan Nguyen</cp:lastModifiedBy>
  <cp:revision>4</cp:revision>
  <dcterms:created xsi:type="dcterms:W3CDTF">2026-05-21T07:07:12Z</dcterms:created>
  <dcterms:modified xsi:type="dcterms:W3CDTF">2026-06-08T10:28:41Z</dcterms:modified>
</cp:coreProperties>
</file>